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7" r:id="rId4"/>
    <p:sldId id="268" r:id="rId5"/>
    <p:sldId id="269" r:id="rId6"/>
    <p:sldId id="258" r:id="rId7"/>
    <p:sldId id="260" r:id="rId8"/>
    <p:sldId id="261" r:id="rId9"/>
    <p:sldId id="262" r:id="rId10"/>
    <p:sldId id="263" r:id="rId11"/>
    <p:sldId id="265" r:id="rId12"/>
    <p:sldId id="267" r:id="rId13"/>
    <p:sldId id="266" r:id="rId14"/>
  </p:sldIdLst>
  <p:sldSz cx="14630400" cy="8229600"/>
  <p:notesSz cx="8229600" cy="14630400"/>
  <p:embeddedFontLst>
    <p:embeddedFont>
      <p:font typeface="Barlow" panose="00000500000000000000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7C7C"/>
    <a:srgbClr val="141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ne\Downloads\vehic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ne\Downloads\vehicl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hane\Downloads\vehicl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[vehicles.xlsx]Sheet1!PivotTable2</c:name>
    <c:fmtId val="25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circle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083702725609901"/>
          <c:y val="2.9069384580000579E-2"/>
          <c:w val="0.84433378359251487"/>
          <c:h val="0.859611621006410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Sheet1!$M$2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Sheet1!$L$3:$L$31</c:f>
              <c:strCache>
                <c:ptCount val="28"/>
                <c:pt idx="0">
                  <c:v>A10</c:v>
                </c:pt>
                <c:pt idx="1">
                  <c:v>A4</c:v>
                </c:pt>
                <c:pt idx="2">
                  <c:v>A5</c:v>
                </c:pt>
                <c:pt idx="3">
                  <c:v>A6</c:v>
                </c:pt>
                <c:pt idx="4">
                  <c:v>A7</c:v>
                </c:pt>
                <c:pt idx="5">
                  <c:v>A8</c:v>
                </c:pt>
                <c:pt idx="6">
                  <c:v>A9</c:v>
                </c:pt>
                <c:pt idx="7">
                  <c:v>AM5</c:v>
                </c:pt>
                <c:pt idx="8">
                  <c:v>AM6</c:v>
                </c:pt>
                <c:pt idx="9">
                  <c:v>AM7</c:v>
                </c:pt>
                <c:pt idx="10">
                  <c:v>AM8</c:v>
                </c:pt>
                <c:pt idx="11">
                  <c:v>AM9</c:v>
                </c:pt>
                <c:pt idx="12">
                  <c:v>AS10</c:v>
                </c:pt>
                <c:pt idx="13">
                  <c:v>AS4</c:v>
                </c:pt>
                <c:pt idx="14">
                  <c:v>AS5</c:v>
                </c:pt>
                <c:pt idx="15">
                  <c:v>AS6</c:v>
                </c:pt>
                <c:pt idx="16">
                  <c:v>AS7</c:v>
                </c:pt>
                <c:pt idx="17">
                  <c:v>AS8</c:v>
                </c:pt>
                <c:pt idx="18">
                  <c:v>AS9</c:v>
                </c:pt>
                <c:pt idx="19">
                  <c:v>AV</c:v>
                </c:pt>
                <c:pt idx="20">
                  <c:v>AV10</c:v>
                </c:pt>
                <c:pt idx="21">
                  <c:v>AV6</c:v>
                </c:pt>
                <c:pt idx="22">
                  <c:v>AV7</c:v>
                </c:pt>
                <c:pt idx="23">
                  <c:v>AV8</c:v>
                </c:pt>
                <c:pt idx="24">
                  <c:v>M5</c:v>
                </c:pt>
                <c:pt idx="25">
                  <c:v>M6</c:v>
                </c:pt>
                <c:pt idx="26">
                  <c:v>M7</c:v>
                </c:pt>
                <c:pt idx="27">
                  <c:v>(blank)</c:v>
                </c:pt>
              </c:strCache>
            </c:strRef>
          </c:cat>
          <c:val>
            <c:numRef>
              <c:f>Sheet1!$M$3:$M$31</c:f>
              <c:numCache>
                <c:formatCode>0.0</c:formatCode>
                <c:ptCount val="28"/>
                <c:pt idx="0">
                  <c:v>12.657894736842104</c:v>
                </c:pt>
                <c:pt idx="1">
                  <c:v>16.295744680851062</c:v>
                </c:pt>
                <c:pt idx="2">
                  <c:v>13.122222222222222</c:v>
                </c:pt>
                <c:pt idx="3">
                  <c:v>12.790030211480374</c:v>
                </c:pt>
                <c:pt idx="4">
                  <c:v>13.67435897435897</c:v>
                </c:pt>
                <c:pt idx="5">
                  <c:v>12.212037037037041</c:v>
                </c:pt>
                <c:pt idx="6">
                  <c:v>10.983333333333329</c:v>
                </c:pt>
                <c:pt idx="7">
                  <c:v>6.4</c:v>
                </c:pt>
                <c:pt idx="8">
                  <c:v>8.1124999999999972</c:v>
                </c:pt>
                <c:pt idx="9">
                  <c:v>11.353807106598985</c:v>
                </c:pt>
                <c:pt idx="10">
                  <c:v>11.286666666666665</c:v>
                </c:pt>
                <c:pt idx="11">
                  <c:v>11</c:v>
                </c:pt>
                <c:pt idx="12">
                  <c:v>12.317283950617282</c:v>
                </c:pt>
                <c:pt idx="13">
                  <c:v>9.9</c:v>
                </c:pt>
                <c:pt idx="14">
                  <c:v>11.481818181818182</c:v>
                </c:pt>
                <c:pt idx="15">
                  <c:v>10.578705636743219</c:v>
                </c:pt>
                <c:pt idx="16">
                  <c:v>11.955621301775146</c:v>
                </c:pt>
                <c:pt idx="17">
                  <c:v>11.234078212290516</c:v>
                </c:pt>
                <c:pt idx="18">
                  <c:v>10.678048780487806</c:v>
                </c:pt>
                <c:pt idx="19">
                  <c:v>7.5723809523809535</c:v>
                </c:pt>
                <c:pt idx="20">
                  <c:v>7.6500000000000012</c:v>
                </c:pt>
                <c:pt idx="21">
                  <c:v>8.0249999999999986</c:v>
                </c:pt>
                <c:pt idx="22">
                  <c:v>8.0155555555555544</c:v>
                </c:pt>
                <c:pt idx="23">
                  <c:v>9.1277777777777764</c:v>
                </c:pt>
                <c:pt idx="24">
                  <c:v>8.5090909090909062</c:v>
                </c:pt>
                <c:pt idx="25">
                  <c:v>10.128242074927952</c:v>
                </c:pt>
                <c:pt idx="26">
                  <c:v>11.44857142857143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8-4AB2-B5F5-292841B15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52710959"/>
        <c:axId val="418684959"/>
        <c:axId val="590412639"/>
      </c:bar3DChart>
      <c:catAx>
        <c:axId val="452710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684959"/>
        <c:crosses val="autoZero"/>
        <c:auto val="1"/>
        <c:lblAlgn val="ctr"/>
        <c:lblOffset val="100"/>
        <c:noMultiLvlLbl val="0"/>
      </c:catAx>
      <c:valAx>
        <c:axId val="418684959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2710959"/>
        <c:crosses val="autoZero"/>
        <c:crossBetween val="between"/>
      </c:valAx>
      <c:serAx>
        <c:axId val="59041263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684959"/>
        <c:crosses val="autoZero"/>
      </c:ser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CO2_emissions(g/km)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Sheet1!$I$2</c:f>
              <c:strCache>
                <c:ptCount val="1"/>
                <c:pt idx="0">
                  <c:v>Average of CO2_emissions(g/km)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Sheet1!$H$3:$H$7</c:f>
              <c:strCache>
                <c:ptCount val="5"/>
                <c:pt idx="0">
                  <c:v>Diesel</c:v>
                </c:pt>
                <c:pt idx="1">
                  <c:v>Ethanol</c:v>
                </c:pt>
                <c:pt idx="2">
                  <c:v>Natural Gas</c:v>
                </c:pt>
                <c:pt idx="3">
                  <c:v>Regular Gasoline</c:v>
                </c:pt>
                <c:pt idx="4">
                  <c:v>Premium Gasoline</c:v>
                </c:pt>
              </c:strCache>
            </c:strRef>
          </c:cat>
          <c:val>
            <c:numRef>
              <c:f>Sheet1!$I$3:$I$7</c:f>
              <c:numCache>
                <c:formatCode>0.0</c:formatCode>
                <c:ptCount val="5"/>
                <c:pt idx="0">
                  <c:v>229.16091954022988</c:v>
                </c:pt>
                <c:pt idx="1">
                  <c:v>284.43037974683546</c:v>
                </c:pt>
                <c:pt idx="2">
                  <c:v>213</c:v>
                </c:pt>
                <c:pt idx="3">
                  <c:v>234.65267727930535</c:v>
                </c:pt>
                <c:pt idx="4">
                  <c:v>266.03046716316857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B6-4030-A984-9F59E8FE4E6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418979071"/>
        <c:axId val="418962751"/>
      </c:lineChart>
      <c:catAx>
        <c:axId val="418979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962751"/>
        <c:crosses val="autoZero"/>
        <c:auto val="1"/>
        <c:lblAlgn val="ctr"/>
        <c:lblOffset val="100"/>
        <c:noMultiLvlLbl val="0"/>
      </c:catAx>
      <c:valAx>
        <c:axId val="418962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979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[vehicles.xlsx]Sheet1!PivotTable3</c:name>
    <c:fmtId val="1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3001037396326049E-2"/>
          <c:y val="1.1983467950858763E-2"/>
          <c:w val="0.93733992056492343"/>
          <c:h val="0.8032203940946514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Sheet1!$P$3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Sheet1!$O$4:$O$20</c:f>
              <c:strCache>
                <c:ptCount val="16"/>
                <c:pt idx="0">
                  <c:v>STATION WAGON - SMALL</c:v>
                </c:pt>
                <c:pt idx="1">
                  <c:v>COMPACT</c:v>
                </c:pt>
                <c:pt idx="2">
                  <c:v>MID-SIZE</c:v>
                </c:pt>
                <c:pt idx="3">
                  <c:v>SPECIAL PURPOSE VEHICLE</c:v>
                </c:pt>
                <c:pt idx="4">
                  <c:v>SUV - SMALL</c:v>
                </c:pt>
                <c:pt idx="5">
                  <c:v>MINICOMPACT</c:v>
                </c:pt>
                <c:pt idx="6">
                  <c:v>SUBCOMPACT</c:v>
                </c:pt>
                <c:pt idx="7">
                  <c:v>STATION WAGON - MID-SIZE</c:v>
                </c:pt>
                <c:pt idx="8">
                  <c:v>MINIVAN</c:v>
                </c:pt>
                <c:pt idx="9">
                  <c:v>FULL-SIZE</c:v>
                </c:pt>
                <c:pt idx="10">
                  <c:v>PICKUP TRUCK - SMALL</c:v>
                </c:pt>
                <c:pt idx="11">
                  <c:v>TWO-SEATER</c:v>
                </c:pt>
                <c:pt idx="12">
                  <c:v>PICKUP TRUCK - STANDARD</c:v>
                </c:pt>
                <c:pt idx="13">
                  <c:v>SUV - STANDARD</c:v>
                </c:pt>
                <c:pt idx="14">
                  <c:v>VAN - CARGO</c:v>
                </c:pt>
                <c:pt idx="15">
                  <c:v>VAN - PASSENGER</c:v>
                </c:pt>
              </c:strCache>
            </c:strRef>
          </c:cat>
          <c:val>
            <c:numRef>
              <c:f>Sheet1!$P$4:$P$20</c:f>
              <c:numCache>
                <c:formatCode>0.0</c:formatCode>
                <c:ptCount val="16"/>
                <c:pt idx="0">
                  <c:v>205.77310924369749</c:v>
                </c:pt>
                <c:pt idx="1">
                  <c:v>220.30769230769232</c:v>
                </c:pt>
                <c:pt idx="2">
                  <c:v>224.56494845360825</c:v>
                </c:pt>
                <c:pt idx="3">
                  <c:v>233.75</c:v>
                </c:pt>
                <c:pt idx="4">
                  <c:v>237.9758064516129</c:v>
                </c:pt>
                <c:pt idx="5">
                  <c:v>239.11627906976744</c:v>
                </c:pt>
                <c:pt idx="6">
                  <c:v>245.95571955719558</c:v>
                </c:pt>
                <c:pt idx="7">
                  <c:v>251.69230769230768</c:v>
                </c:pt>
                <c:pt idx="8">
                  <c:v>260.66666666666669</c:v>
                </c:pt>
                <c:pt idx="9">
                  <c:v>262.97391304347826</c:v>
                </c:pt>
                <c:pt idx="10">
                  <c:v>276.17948717948718</c:v>
                </c:pt>
                <c:pt idx="11">
                  <c:v>282.05769230769232</c:v>
                </c:pt>
                <c:pt idx="12">
                  <c:v>299.11790393013098</c:v>
                </c:pt>
                <c:pt idx="13">
                  <c:v>306.43109540636044</c:v>
                </c:pt>
                <c:pt idx="14">
                  <c:v>361.5</c:v>
                </c:pt>
                <c:pt idx="15">
                  <c:v>392.92682926829269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6-441D-BCEF-7B57B736DF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769536191"/>
        <c:axId val="769540031"/>
        <c:axId val="0"/>
      </c:bar3DChart>
      <c:catAx>
        <c:axId val="7695361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540031"/>
        <c:crosses val="autoZero"/>
        <c:auto val="1"/>
        <c:lblAlgn val="ctr"/>
        <c:lblOffset val="100"/>
        <c:noMultiLvlLbl val="0"/>
      </c:catAx>
      <c:valAx>
        <c:axId val="769540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536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2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304633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Vehicle Fuel Efficiency and CO2 Emissions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350437" y="47882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>
                <a:solidFill>
                  <a:srgbClr val="E0E4E6"/>
                </a:solidFill>
                <a:latin typeface="Barlow" pitchFamily="34" charset="0"/>
              </a:rPr>
              <a:t>Presented by : Dhanesh MN</a:t>
            </a:r>
            <a:endParaRPr lang="en-US" sz="19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65AF5-0CFC-716B-551F-B2BCE3BC2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667"/>
            <a:ext cx="5486400" cy="82312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843590-35D2-9B40-FE13-04E08D7A3347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201" y="1323499"/>
            <a:ext cx="6711196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CO2 Emissions: A Critical Indicator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5201" y="2200722"/>
            <a:ext cx="13319998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CO2 emissions are a direct measure of a vehicle's environmental impact.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55201" y="3117414"/>
            <a:ext cx="6431637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Carbon dioxide emissions (g/km) are a key metric for assessing a vehicle's environmental footprint. Lower values indicate better environmental performance.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763" y="0"/>
            <a:ext cx="643163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526" y="267920"/>
            <a:ext cx="5352574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Dataset </a:t>
            </a:r>
            <a:r>
              <a:rPr lang="en-US" sz="4200" b="1" dirty="0">
                <a:solidFill>
                  <a:srgbClr val="F0FCFF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Overview</a:t>
            </a:r>
            <a:endParaRPr lang="en-US" sz="4200" dirty="0">
              <a:ea typeface="SimSun" panose="02010600030101010101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07088" y="1032295"/>
            <a:ext cx="12944475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Our </a:t>
            </a:r>
            <a:r>
              <a:rPr lang="en-US" sz="1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analysis is based on a comprehensive dataset including various vehicle attributes and performance metrics.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08510" y="1512826"/>
            <a:ext cx="12944475" cy="6448854"/>
          </a:xfrm>
          <a:prstGeom prst="roundRect">
            <a:avLst>
              <a:gd name="adj" fmla="val 710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335AD8-3CF2-BA81-43DB-A8C8A63D1B6A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9636E5-AC02-0322-C281-3B2290984278}"/>
              </a:ext>
            </a:extLst>
          </p:cNvPr>
          <p:cNvSpPr txBox="1"/>
          <p:nvPr/>
        </p:nvSpPr>
        <p:spPr>
          <a:xfrm>
            <a:off x="970022" y="1719016"/>
            <a:ext cx="12621450" cy="5919569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solidFill>
              <a:srgbClr val="141642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IN" sz="1600" b="1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    </a:t>
            </a:r>
            <a:r>
              <a:rPr lang="en-IN" sz="1600" b="1" i="0">
                <a:solidFill>
                  <a:schemeClr val="accent2"/>
                </a:solidFill>
                <a:effectLst/>
                <a:latin typeface="Barlow" panose="00000500000000000000" pitchFamily="2" charset="0"/>
              </a:rPr>
              <a:t>Variable Name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				</a:t>
            </a:r>
            <a:r>
              <a:rPr lang="en-IN" sz="1600" b="1" i="0">
                <a:solidFill>
                  <a:schemeClr val="accent2"/>
                </a:solidFill>
                <a:effectLst/>
                <a:latin typeface="Barlow" panose="00000500000000000000" pitchFamily="2" charset="0"/>
              </a:rPr>
              <a:t>Data Type                               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	</a:t>
            </a:r>
            <a:r>
              <a:rPr lang="en-IN" sz="1600" b="1" i="0">
                <a:solidFill>
                  <a:schemeClr val="accent2"/>
                </a:solidFill>
                <a:effectLst/>
                <a:latin typeface="Barlow" panose="00000500000000000000" pitchFamily="2" charset="0"/>
              </a:rPr>
              <a:t>Description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Brand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                             	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Categorical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Vehicle manufacturer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Model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                             	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Categorical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Specific vehicle model name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Vehicle_class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            	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Categorical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EPA vehicle size classification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Engine_Size(L)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          	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Numeric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Engine displacement in liters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Cylinders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                      	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Numeric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Number of engine cylinders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Transmission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            	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Categorical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Transmission type (Manual, Automatic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)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Fuel_type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                           	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Categorical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  	</a:t>
            </a:r>
            <a:r>
              <a:rPr lang="en-IN" sz="1600" i="0">
                <a:solidFill>
                  <a:schemeClr val="bg1"/>
                </a:solidFill>
                <a:effectLst/>
                <a:latin typeface="Barlow" panose="00000500000000000000" pitchFamily="2" charset="0"/>
              </a:rPr>
              <a:t>Fuel grade (X=Regular, Z=Premium)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  <a:latin typeface="Barlow" panose="00000500000000000000" pitchFamily="2" charset="0"/>
              </a:rPr>
              <a:t>Fuel_consumption_city (L/100 km)      		</a:t>
            </a: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Numeric                                 	</a:t>
            </a:r>
            <a:r>
              <a:rPr lang="en-US" sz="1600">
                <a:solidFill>
                  <a:schemeClr val="bg1"/>
                </a:solidFill>
                <a:latin typeface="Barlow" panose="00000500000000000000" pitchFamily="2" charset="0"/>
              </a:rPr>
              <a:t>Fuel consumed in city driving (litres per 100 km)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Fuel_consumption_hwy (L/100 km)       		Numeric</a:t>
            </a:r>
            <a:r>
              <a:rPr lang="en-US" sz="1600">
                <a:solidFill>
                  <a:schemeClr val="bg1"/>
                </a:solidFill>
                <a:latin typeface="Barlow" panose="00000500000000000000" pitchFamily="2" charset="0"/>
              </a:rPr>
              <a:t>                          	Fuel consumed in highway driving (litres per 100 km)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Fuel_consumption_comb (L/100 km 		Numeric                            </a:t>
            </a:r>
            <a:r>
              <a:rPr lang="en-US" sz="1600">
                <a:latin typeface="Barlow" panose="00000500000000000000" pitchFamily="2" charset="0"/>
              </a:rPr>
              <a:t> 	</a:t>
            </a:r>
            <a:r>
              <a:rPr lang="en-US" sz="1600">
                <a:solidFill>
                  <a:schemeClr val="bg1"/>
                </a:solidFill>
                <a:latin typeface="Barlow" panose="00000500000000000000" pitchFamily="2" charset="0"/>
              </a:rPr>
              <a:t>Combined fuel consumption (city + highway,L/100 km)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bg1"/>
                </a:solidFill>
                <a:latin typeface="Barlow" panose="00000500000000000000" pitchFamily="2" charset="0"/>
              </a:rPr>
              <a:t>CO2_emissions (g/km)                     		Numeric                                 	Tailpipe carbon dioxide emissions in grams per kilometre</a:t>
            </a:r>
            <a:endParaRPr lang="en-IN" sz="1600" i="0">
              <a:solidFill>
                <a:schemeClr val="bg1"/>
              </a:solidFill>
              <a:effectLst/>
              <a:latin typeface="Barlow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627F49-BD3A-2B2D-5545-B2C938BCAF00}"/>
              </a:ext>
            </a:extLst>
          </p:cNvPr>
          <p:cNvSpPr txBox="1"/>
          <p:nvPr/>
        </p:nvSpPr>
        <p:spPr>
          <a:xfrm>
            <a:off x="2135988" y="121367"/>
            <a:ext cx="1008184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>
                <a:solidFill>
                  <a:schemeClr val="bg1"/>
                </a:solidFill>
              </a:rPr>
              <a:t>Research Objectives</a:t>
            </a:r>
          </a:p>
          <a:p>
            <a:pPr algn="ctr"/>
            <a:endParaRPr lang="en-IN" sz="2000" b="1">
              <a:solidFill>
                <a:schemeClr val="bg1"/>
              </a:solidFill>
            </a:endParaRPr>
          </a:p>
          <a:p>
            <a:pPr algn="ctr"/>
            <a:r>
              <a:rPr lang="en-IN" sz="2400" b="1">
                <a:solidFill>
                  <a:schemeClr val="bg1"/>
                </a:solidFill>
              </a:rPr>
              <a:t>  </a:t>
            </a:r>
            <a:r>
              <a:rPr lang="en-IN" sz="2400">
                <a:solidFill>
                  <a:schemeClr val="bg1"/>
                </a:solidFill>
              </a:rPr>
              <a:t>Vehicle Emissions &amp; Fuel Efficiency Analysis</a:t>
            </a:r>
          </a:p>
          <a:p>
            <a:br>
              <a:rPr lang="en-IN" sz="1100"/>
            </a:br>
            <a:endParaRPr lang="en-IN" sz="1100" b="1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6C264B-998D-8429-45F4-85C1955CF620}"/>
              </a:ext>
            </a:extLst>
          </p:cNvPr>
          <p:cNvCxnSpPr/>
          <p:nvPr/>
        </p:nvCxnSpPr>
        <p:spPr>
          <a:xfrm>
            <a:off x="6535615" y="1746739"/>
            <a:ext cx="155917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4BE4C4-F36D-9952-B3A5-1D31D3056953}"/>
              </a:ext>
            </a:extLst>
          </p:cNvPr>
          <p:cNvSpPr/>
          <p:nvPr/>
        </p:nvSpPr>
        <p:spPr>
          <a:xfrm>
            <a:off x="457199" y="1968027"/>
            <a:ext cx="6424519" cy="190672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mpd="thickThin">
            <a:solidFill>
              <a:schemeClr val="accent6">
                <a:lumMod val="50000"/>
              </a:schemeClr>
            </a:solidFill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</a:rPr>
              <a:t>                       </a:t>
            </a:r>
          </a:p>
          <a:p>
            <a:r>
              <a:rPr lang="en-US" b="1">
                <a:solidFill>
                  <a:schemeClr val="bg1"/>
                </a:solidFill>
              </a:rPr>
              <a:t>                                        </a:t>
            </a:r>
            <a:r>
              <a:rPr lang="en-US" sz="2000" b="1">
                <a:solidFill>
                  <a:schemeClr val="bg1"/>
                </a:solidFill>
              </a:rPr>
              <a:t>Vehicle Diversity</a:t>
            </a:r>
          </a:p>
          <a:p>
            <a:endParaRPr lang="en-US" b="1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   Count of unique brands, models, and vehicle classes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   Comprehensive market landscape analysis</a:t>
            </a:r>
          </a:p>
          <a:p>
            <a:endParaRPr lang="en-US" b="1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2BF7DF3-9FB5-7184-A504-03614BF089C4}"/>
              </a:ext>
            </a:extLst>
          </p:cNvPr>
          <p:cNvSpPr/>
          <p:nvPr/>
        </p:nvSpPr>
        <p:spPr>
          <a:xfrm>
            <a:off x="608675" y="2151317"/>
            <a:ext cx="524065" cy="504092"/>
          </a:xfrm>
          <a:prstGeom prst="flowChartConnector">
            <a:avLst/>
          </a:prstGeom>
          <a:gradFill>
            <a:gsLst>
              <a:gs pos="0">
                <a:srgbClr val="127C7C"/>
              </a:gs>
              <a:gs pos="50000">
                <a:srgbClr val="92D050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33695C-FC02-84E1-B138-98A3E8509197}"/>
              </a:ext>
            </a:extLst>
          </p:cNvPr>
          <p:cNvSpPr/>
          <p:nvPr/>
        </p:nvSpPr>
        <p:spPr>
          <a:xfrm>
            <a:off x="7748682" y="1907659"/>
            <a:ext cx="6424519" cy="1955372"/>
          </a:xfrm>
          <a:prstGeom prst="round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cmpd="thickThin"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</a:rPr>
              <a:t>                       </a:t>
            </a:r>
          </a:p>
          <a:p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000" b="1">
                <a:solidFill>
                  <a:schemeClr val="bg1"/>
                </a:solidFill>
              </a:rPr>
              <a:t>  </a:t>
            </a:r>
            <a:r>
              <a:rPr lang="en-IN" sz="2000" b="1">
                <a:solidFill>
                  <a:schemeClr val="bg1"/>
                </a:solidFill>
              </a:rPr>
              <a:t>Emissions Analysis</a:t>
            </a:r>
          </a:p>
          <a:p>
            <a:endParaRPr lang="en-US" b="1">
              <a:solidFill>
                <a:schemeClr val="bg1"/>
              </a:solidFill>
            </a:endParaRP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I</a:t>
            </a: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dentify vehicles with highest and lowest CO₂ emissions</a:t>
            </a: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Distribution across emission intensity categories</a:t>
            </a: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Percentage analysis for CO₂ &gt; 200 and &lt; 150 g/km</a:t>
            </a:r>
          </a:p>
          <a:p>
            <a:endParaRPr lang="en-US" b="1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A534EDF-4A49-8F22-F537-943833D2419F}"/>
              </a:ext>
            </a:extLst>
          </p:cNvPr>
          <p:cNvSpPr/>
          <p:nvPr/>
        </p:nvSpPr>
        <p:spPr>
          <a:xfrm>
            <a:off x="7832752" y="2093796"/>
            <a:ext cx="524065" cy="504092"/>
          </a:xfrm>
          <a:prstGeom prst="flowChartConnector">
            <a:avLst/>
          </a:prstGeom>
          <a:gradFill>
            <a:gsLst>
              <a:gs pos="0">
                <a:srgbClr val="127C7C"/>
              </a:gs>
              <a:gs pos="50000">
                <a:srgbClr val="92D050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CC9366D-4857-B7BF-177D-27643B9DE13B}"/>
              </a:ext>
            </a:extLst>
          </p:cNvPr>
          <p:cNvSpPr/>
          <p:nvPr/>
        </p:nvSpPr>
        <p:spPr>
          <a:xfrm>
            <a:off x="457198" y="4026095"/>
            <a:ext cx="6424519" cy="1846659"/>
          </a:xfrm>
          <a:prstGeom prst="round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cmpd="thickThin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</a:rPr>
              <a:t>                       </a:t>
            </a:r>
          </a:p>
          <a:p>
            <a:pPr>
              <a:spcAft>
                <a:spcPts val="1125"/>
              </a:spcAft>
            </a:pPr>
            <a:r>
              <a:rPr lang="en-US" b="1">
                <a:solidFill>
                  <a:schemeClr val="bg1"/>
                </a:solidFill>
              </a:rPr>
              <a:t>                         </a:t>
            </a:r>
          </a:p>
          <a:p>
            <a:pPr>
              <a:spcAft>
                <a:spcPts val="1125"/>
              </a:spcAft>
            </a:pPr>
            <a:r>
              <a:rPr lang="en-US" b="1">
                <a:solidFill>
                  <a:schemeClr val="bg1"/>
                </a:solidFill>
              </a:rPr>
              <a:t>                                        </a:t>
            </a:r>
            <a:r>
              <a:rPr lang="en-US" sz="2000" b="1">
                <a:solidFill>
                  <a:schemeClr val="bg1"/>
                </a:solidFill>
                <a:latin typeface="Calibri" panose="020F0502020204030204" pitchFamily="34" charset="0"/>
              </a:rPr>
              <a:t>Efficiency Insights</a:t>
            </a: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Top most fuel-efficient vehicles</a:t>
            </a: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Categorize by fuel efficiency levels</a:t>
            </a: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Compare city vs highway fuel economy</a:t>
            </a:r>
          </a:p>
          <a:p>
            <a:endParaRPr lang="en-US" b="1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21D2AB07-764B-6915-993C-A469A16B6E8C}"/>
              </a:ext>
            </a:extLst>
          </p:cNvPr>
          <p:cNvSpPr/>
          <p:nvPr/>
        </p:nvSpPr>
        <p:spPr>
          <a:xfrm>
            <a:off x="608676" y="4119374"/>
            <a:ext cx="524065" cy="504092"/>
          </a:xfrm>
          <a:prstGeom prst="flowChartConnector">
            <a:avLst/>
          </a:prstGeom>
          <a:gradFill>
            <a:gsLst>
              <a:gs pos="0">
                <a:srgbClr val="127C7C"/>
              </a:gs>
              <a:gs pos="50000">
                <a:srgbClr val="92D050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15B8C1A-2EE6-B525-B233-FC8C16B83B54}"/>
              </a:ext>
            </a:extLst>
          </p:cNvPr>
          <p:cNvSpPr/>
          <p:nvPr/>
        </p:nvSpPr>
        <p:spPr>
          <a:xfrm>
            <a:off x="7748681" y="4023948"/>
            <a:ext cx="6424519" cy="1848806"/>
          </a:xfrm>
          <a:prstGeom prst="round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1000">
                <a:schemeClr val="accent1">
                  <a:lumMod val="7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cmpd="thickThin"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</a:rPr>
              <a:t>                       </a:t>
            </a:r>
          </a:p>
          <a:p>
            <a:pPr>
              <a:spcAft>
                <a:spcPts val="1125"/>
              </a:spcAft>
            </a:pPr>
            <a:r>
              <a:rPr lang="en-US" b="1">
                <a:solidFill>
                  <a:schemeClr val="bg1"/>
                </a:solidFill>
              </a:rPr>
              <a:t>                                     </a:t>
            </a:r>
          </a:p>
          <a:p>
            <a:pPr>
              <a:spcAft>
                <a:spcPts val="1125"/>
              </a:spcAft>
            </a:pPr>
            <a:r>
              <a:rPr lang="en-US" b="1">
                <a:solidFill>
                  <a:schemeClr val="bg1"/>
                </a:solidFill>
              </a:rPr>
              <a:t>                         </a:t>
            </a:r>
            <a:r>
              <a:rPr lang="en-US" sz="2000" b="1">
                <a:solidFill>
                  <a:schemeClr val="bg1"/>
                </a:solidFill>
                <a:latin typeface="Calibri" panose="020F0502020204030204" pitchFamily="34" charset="0"/>
              </a:rPr>
              <a:t>Brand &amp; Feature Comparison</a:t>
            </a:r>
            <a:r>
              <a:rPr lang="en-US" sz="2000">
                <a:solidFill>
                  <a:schemeClr val="bg1"/>
                </a:solidFill>
                <a:latin typeface="Calibri" panose="020F0502020204030204" pitchFamily="34" charset="0"/>
              </a:rPr>
              <a:t>      </a:t>
            </a:r>
            <a:endParaRPr lang="en-US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Calibri" panose="020F0502020204030204" pitchFamily="34" charset="0"/>
              </a:rPr>
              <a:t>Average emissions and fuel consumption by:</a:t>
            </a: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Brand</a:t>
            </a:r>
            <a:r>
              <a:rPr lang="en-US">
                <a:solidFill>
                  <a:schemeClr val="bg1"/>
                </a:solidFill>
                <a:latin typeface="Calibri" panose="020F0502020204030204" pitchFamily="34" charset="0"/>
              </a:rPr>
              <a:t>, </a:t>
            </a: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Fuel Type</a:t>
            </a:r>
            <a:r>
              <a:rPr lang="en-US">
                <a:solidFill>
                  <a:schemeClr val="bg1"/>
                </a:solidFill>
                <a:latin typeface="Calibri" panose="020F0502020204030204" pitchFamily="34" charset="0"/>
              </a:rPr>
              <a:t>, </a:t>
            </a: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Vehicle Class</a:t>
            </a:r>
            <a:endParaRPr lang="en-US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Transmission</a:t>
            </a:r>
            <a:r>
              <a:rPr lang="en-US">
                <a:solidFill>
                  <a:schemeClr val="bg1"/>
                </a:solidFill>
                <a:latin typeface="Calibri" panose="020F0502020204030204" pitchFamily="34" charset="0"/>
              </a:rPr>
              <a:t>, </a:t>
            </a: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Engine Cylinders</a:t>
            </a:r>
            <a:r>
              <a:rPr lang="en-US">
                <a:solidFill>
                  <a:schemeClr val="bg1"/>
                </a:solidFill>
                <a:latin typeface="Calibri" panose="020F0502020204030204" pitchFamily="34" charset="0"/>
              </a:rPr>
              <a:t>, </a:t>
            </a: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</a:rPr>
              <a:t>Engine Size</a:t>
            </a:r>
            <a:endParaRPr lang="en-US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298C7590-E349-3B7D-03A1-349C0453A4A9}"/>
              </a:ext>
            </a:extLst>
          </p:cNvPr>
          <p:cNvSpPr/>
          <p:nvPr/>
        </p:nvSpPr>
        <p:spPr>
          <a:xfrm>
            <a:off x="7832752" y="4108938"/>
            <a:ext cx="524065" cy="504092"/>
          </a:xfrm>
          <a:prstGeom prst="flowChartConnector">
            <a:avLst/>
          </a:prstGeom>
          <a:gradFill>
            <a:gsLst>
              <a:gs pos="0">
                <a:srgbClr val="127C7C"/>
              </a:gs>
              <a:gs pos="50000">
                <a:srgbClr val="92D050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B3402B0-FC62-68FC-ECFD-33FDE26B5BDF}"/>
              </a:ext>
            </a:extLst>
          </p:cNvPr>
          <p:cNvSpPr/>
          <p:nvPr/>
        </p:nvSpPr>
        <p:spPr>
          <a:xfrm>
            <a:off x="3428898" y="6033672"/>
            <a:ext cx="7772604" cy="1996191"/>
          </a:xfrm>
          <a:prstGeom prst="round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cmpd="thickThin"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</a:rPr>
              <a:t>                       </a:t>
            </a:r>
          </a:p>
          <a:p>
            <a:pPr>
              <a:spcBef>
                <a:spcPts val="2250"/>
              </a:spcBef>
              <a:spcAft>
                <a:spcPts val="1125"/>
              </a:spcAft>
            </a:pPr>
            <a:r>
              <a:rPr lang="en-US" b="1">
                <a:solidFill>
                  <a:schemeClr val="bg1"/>
                </a:solidFill>
              </a:rPr>
              <a:t>                                        </a:t>
            </a:r>
            <a:r>
              <a:rPr lang="en-IN" sz="2000" b="1">
                <a:solidFill>
                  <a:schemeClr val="bg1"/>
                </a:solidFill>
                <a:latin typeface="Calibri" panose="020F0502020204030204" pitchFamily="34" charset="0"/>
              </a:rPr>
              <a:t>Performance vs Emissions</a:t>
            </a: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  <a:latin typeface="Calibri" panose="020F0502020204030204" pitchFamily="34" charset="0"/>
              </a:rPr>
              <a:t>Correlation between </a:t>
            </a:r>
            <a:r>
              <a:rPr lang="en-IN" b="1">
                <a:solidFill>
                  <a:schemeClr val="bg1"/>
                </a:solidFill>
                <a:latin typeface="Calibri" panose="020F0502020204030204" pitchFamily="34" charset="0"/>
              </a:rPr>
              <a:t>engine size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</a:rPr>
              <a:t>, </a:t>
            </a:r>
            <a:r>
              <a:rPr lang="en-IN" b="1">
                <a:solidFill>
                  <a:schemeClr val="bg1"/>
                </a:solidFill>
                <a:latin typeface="Calibri" panose="020F0502020204030204" pitchFamily="34" charset="0"/>
              </a:rPr>
              <a:t>fuel consumption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</a:rPr>
              <a:t>, and </a:t>
            </a:r>
            <a:r>
              <a:rPr lang="en-IN" b="1">
                <a:solidFill>
                  <a:schemeClr val="bg1"/>
                </a:solidFill>
                <a:latin typeface="Calibri" panose="020F0502020204030204" pitchFamily="34" charset="0"/>
              </a:rPr>
              <a:t>CO₂ emissions</a:t>
            </a:r>
            <a:endParaRPr lang="en-IN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IN" b="1">
                <a:solidFill>
                  <a:schemeClr val="bg1"/>
                </a:solidFill>
                <a:latin typeface="Calibri" panose="020F0502020204030204" pitchFamily="34" charset="0"/>
              </a:rPr>
              <a:t>Emission Intensity Ratio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</a:rPr>
              <a:t> (CO₂ per liter of engine displacement)</a:t>
            </a:r>
          </a:p>
          <a:p>
            <a:pPr marL="285750" indent="-28575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  <a:latin typeface="Calibri" panose="020F0502020204030204" pitchFamily="34" charset="0"/>
              </a:rPr>
              <a:t>Identify optimal </a:t>
            </a:r>
            <a:r>
              <a:rPr lang="en-IN" b="1">
                <a:solidFill>
                  <a:schemeClr val="bg1"/>
                </a:solidFill>
                <a:latin typeface="Calibri" panose="020F0502020204030204" pitchFamily="34" charset="0"/>
              </a:rPr>
              <a:t>engine size category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</a:rPr>
              <a:t> balancing performance and efficiency</a:t>
            </a:r>
          </a:p>
          <a:p>
            <a:endParaRPr lang="en-US" b="1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F4F20722-B125-50BF-D8F3-A75541620315}"/>
              </a:ext>
            </a:extLst>
          </p:cNvPr>
          <p:cNvSpPr/>
          <p:nvPr/>
        </p:nvSpPr>
        <p:spPr>
          <a:xfrm>
            <a:off x="3669457" y="6176773"/>
            <a:ext cx="524065" cy="504092"/>
          </a:xfrm>
          <a:prstGeom prst="flowChartConnector">
            <a:avLst/>
          </a:prstGeom>
          <a:gradFill>
            <a:gsLst>
              <a:gs pos="0">
                <a:srgbClr val="127C7C"/>
              </a:gs>
              <a:gs pos="50000">
                <a:srgbClr val="92D050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7E2CFC-642A-7D81-0A86-19EEA08F3904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845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2E8ADC-90AE-E3FD-E652-E0C7C12BB8B3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44408-F12C-78A5-6CFE-6F0FD20369B5}"/>
              </a:ext>
            </a:extLst>
          </p:cNvPr>
          <p:cNvSpPr txBox="1"/>
          <p:nvPr/>
        </p:nvSpPr>
        <p:spPr>
          <a:xfrm>
            <a:off x="0" y="11723"/>
            <a:ext cx="14630400" cy="1388201"/>
          </a:xfrm>
          <a:prstGeom prst="rect">
            <a:avLst/>
          </a:prstGeom>
          <a:solidFill>
            <a:schemeClr val="accent1">
              <a:lumMod val="50000"/>
              <a:alpha val="34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Vehicle Emissions &amp; Fuel Efficiency Analysis</a:t>
            </a:r>
          </a:p>
          <a:p>
            <a:pPr algn="ctr">
              <a:lnSpc>
                <a:spcPct val="150000"/>
              </a:lnSpc>
              <a:buNone/>
            </a:pPr>
            <a:r>
              <a:rPr lang="en-US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Comprehensive analysis of 3105 vehicles across 42 brands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358873-03BC-5E84-4147-6486C3D48165}"/>
              </a:ext>
            </a:extLst>
          </p:cNvPr>
          <p:cNvSpPr/>
          <p:nvPr/>
        </p:nvSpPr>
        <p:spPr>
          <a:xfrm>
            <a:off x="222736" y="1728169"/>
            <a:ext cx="3657600" cy="11088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chemeClr val="tx1"/>
                </a:solidFill>
              </a:rPr>
              <a:t>Vehicle Diversity</a:t>
            </a:r>
          </a:p>
          <a:p>
            <a:pPr algn="ctr"/>
            <a:r>
              <a:rPr lang="en-IN" sz="2800" b="1">
                <a:solidFill>
                  <a:schemeClr val="tx1"/>
                </a:solidFill>
              </a:rPr>
              <a:t>42</a:t>
            </a:r>
          </a:p>
          <a:p>
            <a:pPr algn="ctr"/>
            <a:r>
              <a:rPr lang="en-IN">
                <a:solidFill>
                  <a:schemeClr val="tx1"/>
                </a:solidFill>
              </a:rPr>
              <a:t>1596  models,  16 classes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6F54CA-CB0E-077C-32C9-27F73B92085B}"/>
              </a:ext>
            </a:extLst>
          </p:cNvPr>
          <p:cNvSpPr/>
          <p:nvPr/>
        </p:nvSpPr>
        <p:spPr>
          <a:xfrm>
            <a:off x="4021013" y="1697878"/>
            <a:ext cx="3499339" cy="11391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Average CO₂ Emissions</a:t>
            </a:r>
          </a:p>
          <a:p>
            <a:pPr algn="ctr"/>
            <a:r>
              <a:rPr lang="en-US" sz="2800" b="1">
                <a:solidFill>
                  <a:schemeClr val="tx1"/>
                </a:solidFill>
              </a:rPr>
              <a:t>251.9 g/km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50.0% high emitters (&gt;200)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F31F13-41CD-E168-7B09-5AE771CA4ADF}"/>
              </a:ext>
            </a:extLst>
          </p:cNvPr>
          <p:cNvSpPr/>
          <p:nvPr/>
        </p:nvSpPr>
        <p:spPr>
          <a:xfrm>
            <a:off x="7684475" y="1709602"/>
            <a:ext cx="3346939" cy="11391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Calibri" panose="020F0502020204030204" pitchFamily="34" charset="0"/>
              </a:rPr>
              <a:t>Average Fuel Economy</a:t>
            </a:r>
          </a:p>
          <a:p>
            <a:pPr algn="ctr"/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</a:rPr>
              <a:t>11.09 L/100km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Calibri" panose="020F0502020204030204" pitchFamily="34" charset="0"/>
              </a:rPr>
              <a:t>Combined city/highway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6CA439-0790-4860-E27D-DB4E69F8A013}"/>
              </a:ext>
            </a:extLst>
          </p:cNvPr>
          <p:cNvSpPr/>
          <p:nvPr/>
        </p:nvSpPr>
        <p:spPr>
          <a:xfrm>
            <a:off x="11195536" y="1705666"/>
            <a:ext cx="3212128" cy="11313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Low Emitters</a:t>
            </a:r>
          </a:p>
          <a:p>
            <a:pPr algn="ctr"/>
            <a:r>
              <a:rPr lang="en-US" sz="2800" b="1">
                <a:solidFill>
                  <a:schemeClr val="tx1"/>
                </a:solidFill>
              </a:rPr>
              <a:t>1.87%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58 vehicles &lt;150 g/km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32ABCE-425B-EE17-8AEE-4AA7437F9D5B}"/>
              </a:ext>
            </a:extLst>
          </p:cNvPr>
          <p:cNvSpPr/>
          <p:nvPr/>
        </p:nvSpPr>
        <p:spPr>
          <a:xfrm>
            <a:off x="5012024" y="2967378"/>
            <a:ext cx="4756523" cy="36107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/>
              <a:t>  </a:t>
            </a:r>
            <a:r>
              <a:rPr lang="en-US" sz="2400" b="1">
                <a:solidFill>
                  <a:schemeClr val="tx1"/>
                </a:solidFill>
              </a:rPr>
              <a:t>Emission Categories</a:t>
            </a:r>
          </a:p>
          <a:p>
            <a:pPr algn="ctr">
              <a:lnSpc>
                <a:spcPct val="150000"/>
              </a:lnSpc>
            </a:pPr>
            <a:endParaRPr lang="en-US" b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           Low (&lt;100)         	     1 vehicles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           Moderate (101-150)   	     57 vehicles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           Medium (151-200)   	     601 vehicles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           High (201-250)        	     989 vehicles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           Very High (250-300)          850 vehicles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           Extremely High (&gt;300)       607 vehicles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7B29CA-9A2E-BE70-78C3-3146B1BD6E6C}"/>
              </a:ext>
            </a:extLst>
          </p:cNvPr>
          <p:cNvSpPr/>
          <p:nvPr/>
        </p:nvSpPr>
        <p:spPr>
          <a:xfrm>
            <a:off x="5373854" y="3944256"/>
            <a:ext cx="199292" cy="19929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C0000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F556E7-3520-83E2-70A9-F362B6825777}"/>
              </a:ext>
            </a:extLst>
          </p:cNvPr>
          <p:cNvSpPr/>
          <p:nvPr/>
        </p:nvSpPr>
        <p:spPr>
          <a:xfrm>
            <a:off x="5373854" y="4396061"/>
            <a:ext cx="199292" cy="19929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9B2736-571F-233A-A393-213A5D09CA96}"/>
              </a:ext>
            </a:extLst>
          </p:cNvPr>
          <p:cNvSpPr/>
          <p:nvPr/>
        </p:nvSpPr>
        <p:spPr>
          <a:xfrm>
            <a:off x="5373854" y="4792363"/>
            <a:ext cx="199292" cy="199292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6F0D3E-E636-0AE2-4861-9B3C467ED700}"/>
              </a:ext>
            </a:extLst>
          </p:cNvPr>
          <p:cNvSpPr/>
          <p:nvPr/>
        </p:nvSpPr>
        <p:spPr>
          <a:xfrm>
            <a:off x="5373854" y="5201636"/>
            <a:ext cx="199292" cy="19929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D0374C-1D70-1113-8190-FDF9BD9DD1C0}"/>
              </a:ext>
            </a:extLst>
          </p:cNvPr>
          <p:cNvSpPr/>
          <p:nvPr/>
        </p:nvSpPr>
        <p:spPr>
          <a:xfrm>
            <a:off x="5373854" y="5595657"/>
            <a:ext cx="199292" cy="199292"/>
          </a:xfrm>
          <a:prstGeom prst="roundRect">
            <a:avLst/>
          </a:prstGeom>
          <a:solidFill>
            <a:srgbClr val="12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8DBBDE7-4458-467E-890D-74EB44454EA7}"/>
              </a:ext>
            </a:extLst>
          </p:cNvPr>
          <p:cNvSpPr/>
          <p:nvPr/>
        </p:nvSpPr>
        <p:spPr>
          <a:xfrm>
            <a:off x="5373854" y="6012757"/>
            <a:ext cx="199292" cy="199292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B54EA3-4E3B-AD6E-E857-FF1B61E4F189}"/>
              </a:ext>
            </a:extLst>
          </p:cNvPr>
          <p:cNvSpPr/>
          <p:nvPr/>
        </p:nvSpPr>
        <p:spPr>
          <a:xfrm>
            <a:off x="222735" y="6708481"/>
            <a:ext cx="6869728" cy="14127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tx1"/>
                </a:solidFill>
              </a:rPr>
              <a:t>Most Efficient</a:t>
            </a:r>
          </a:p>
          <a:p>
            <a:pPr algn="ctr">
              <a:lnSpc>
                <a:spcPct val="150000"/>
              </a:lnSpc>
            </a:pPr>
            <a:r>
              <a:rPr lang="en-IN">
                <a:solidFill>
                  <a:schemeClr val="tx1"/>
                </a:solidFill>
              </a:rPr>
              <a:t>HYUNDAI   IONIQ BLUE</a:t>
            </a:r>
            <a:r>
              <a:rPr lang="en-US">
                <a:solidFill>
                  <a:schemeClr val="tx1"/>
                </a:solidFill>
              </a:rPr>
              <a:t>:  4.1 L/100km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96 g/km CO2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A000208-E535-D24A-9A8D-3D2D97755BCD}"/>
              </a:ext>
            </a:extLst>
          </p:cNvPr>
          <p:cNvSpPr/>
          <p:nvPr/>
        </p:nvSpPr>
        <p:spPr>
          <a:xfrm>
            <a:off x="7197970" y="6708481"/>
            <a:ext cx="7209694" cy="13882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tx1"/>
                </a:solidFill>
              </a:rPr>
              <a:t>Highest Emissions</a:t>
            </a:r>
            <a:endParaRPr lang="en-US" b="1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IN">
                <a:solidFill>
                  <a:schemeClr val="tx1"/>
                </a:solidFill>
              </a:rPr>
              <a:t>BUGATTI CHIRON</a:t>
            </a:r>
            <a:r>
              <a:rPr lang="en-US">
                <a:solidFill>
                  <a:schemeClr val="tx1"/>
                </a:solidFill>
              </a:rPr>
              <a:t>:  </a:t>
            </a:r>
            <a:r>
              <a:rPr lang="en-IN">
                <a:solidFill>
                  <a:schemeClr val="tx1"/>
                </a:solidFill>
              </a:rPr>
              <a:t>22.2</a:t>
            </a:r>
            <a:r>
              <a:rPr lang="en-US">
                <a:solidFill>
                  <a:schemeClr val="tx1"/>
                </a:solidFill>
              </a:rPr>
              <a:t> L/100km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 </a:t>
            </a:r>
            <a:r>
              <a:rPr lang="en-IN">
                <a:solidFill>
                  <a:schemeClr val="tx1"/>
                </a:solidFill>
              </a:rPr>
              <a:t>522 </a:t>
            </a:r>
            <a:r>
              <a:rPr lang="en-US">
                <a:solidFill>
                  <a:schemeClr val="tx1"/>
                </a:solidFill>
              </a:rPr>
              <a:t>g/km CO2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3A53503-452C-68CB-7761-CCF7507A5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35" y="2968222"/>
            <a:ext cx="4596972" cy="356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82CA4A-7483-6022-6056-CA5E3FE12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864" y="2964640"/>
            <a:ext cx="4446800" cy="356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19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14400"/>
            <a:ext cx="79438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Key Metrics: Fuel Consumption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09395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Understanding how different vehicles consume fuel in various driving conditions.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3106460"/>
            <a:ext cx="6327696" cy="121920"/>
          </a:xfrm>
          <a:prstGeom prst="roundRect">
            <a:avLst>
              <a:gd name="adj" fmla="val 303750"/>
            </a:avLst>
          </a:prstGeom>
          <a:solidFill>
            <a:srgbClr val="16F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2766655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16FFB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771" y="2951798"/>
            <a:ext cx="296228" cy="3702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1333" y="375416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City Consumption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41333" y="4245173"/>
            <a:ext cx="57731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Fuel consumption in urban driving (L/100 km).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438549" y="3106460"/>
            <a:ext cx="6327815" cy="121920"/>
          </a:xfrm>
          <a:prstGeom prst="roundRect">
            <a:avLst>
              <a:gd name="adj" fmla="val 303750"/>
            </a:avLst>
          </a:prstGeom>
          <a:solidFill>
            <a:srgbClr val="29DDDA"/>
          </a:solidFill>
          <a:ln/>
        </p:spPr>
      </p:sp>
      <p:sp>
        <p:nvSpPr>
          <p:cNvPr id="10" name="Shape 7"/>
          <p:cNvSpPr/>
          <p:nvPr/>
        </p:nvSpPr>
        <p:spPr>
          <a:xfrm>
            <a:off x="10232112" y="2766655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29DDD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4283" y="2951798"/>
            <a:ext cx="296228" cy="3702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15845" y="3754160"/>
            <a:ext cx="293405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Highway Consumption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715845" y="4245173"/>
            <a:ext cx="577322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Fuel consumption on highways (L/100 km).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64037" y="5504140"/>
            <a:ext cx="6327696" cy="121920"/>
          </a:xfrm>
          <a:prstGeom prst="roundRect">
            <a:avLst>
              <a:gd name="adj" fmla="val 303750"/>
            </a:avLst>
          </a:prstGeom>
          <a:solidFill>
            <a:srgbClr val="37A7E7"/>
          </a:solidFill>
          <a:ln/>
        </p:spPr>
      </p:sp>
      <p:sp>
        <p:nvSpPr>
          <p:cNvPr id="15" name="Shape 11"/>
          <p:cNvSpPr/>
          <p:nvPr/>
        </p:nvSpPr>
        <p:spPr>
          <a:xfrm>
            <a:off x="3657600" y="5164336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37A7E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771" y="5349478"/>
            <a:ext cx="296228" cy="3702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1333" y="6151840"/>
            <a:ext cx="313098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Combined Consumption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141333" y="6642854"/>
            <a:ext cx="57731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of city and highway consumption (L/100 km).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7438549" y="5504140"/>
            <a:ext cx="6327815" cy="121920"/>
          </a:xfrm>
          <a:prstGeom prst="roundRect">
            <a:avLst>
              <a:gd name="adj" fmla="val 303750"/>
            </a:avLst>
          </a:prstGeom>
          <a:solidFill>
            <a:srgbClr val="09123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32112" y="5164336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09123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4283" y="5349478"/>
            <a:ext cx="296228" cy="3702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15845" y="61518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Combined MPG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7715845" y="6642854"/>
            <a:ext cx="577322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Combined consumption in miles per gallon (mpg).</a:t>
            </a:r>
            <a:endParaRPr lang="en-US" sz="1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771ADF-C00C-92F2-B2A9-9A8471F6C3FA}"/>
              </a:ext>
            </a:extLst>
          </p:cNvPr>
          <p:cNvSpPr txBox="1"/>
          <p:nvPr/>
        </p:nvSpPr>
        <p:spPr>
          <a:xfrm>
            <a:off x="1064039" y="4718385"/>
            <a:ext cx="2373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none" strike="noStrike">
                <a:solidFill>
                  <a:schemeClr val="bg1"/>
                </a:solidFill>
                <a:effectLst/>
              </a:rPr>
              <a:t>12.7</a:t>
            </a:r>
            <a:r>
              <a:rPr lang="en-IN" sz="2400" b="1">
                <a:solidFill>
                  <a:schemeClr val="bg1"/>
                </a:solidFill>
              </a:rPr>
              <a:t> </a:t>
            </a:r>
            <a:r>
              <a:rPr lang="en-US" sz="2400" b="1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(L/100 km)</a:t>
            </a:r>
            <a:endParaRPr lang="en-IN" sz="2400" b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4DDB79-7416-E77B-A29A-65774F82FE75}"/>
              </a:ext>
            </a:extLst>
          </p:cNvPr>
          <p:cNvSpPr txBox="1"/>
          <p:nvPr/>
        </p:nvSpPr>
        <p:spPr>
          <a:xfrm>
            <a:off x="7715844" y="4759910"/>
            <a:ext cx="2146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none" strike="noStrike">
                <a:solidFill>
                  <a:schemeClr val="bg1"/>
                </a:solidFill>
                <a:effectLst/>
              </a:rPr>
              <a:t>9.1 </a:t>
            </a:r>
            <a:r>
              <a:rPr lang="en-US" sz="2400" b="1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(L/100 km)</a:t>
            </a:r>
            <a:r>
              <a:rPr lang="en-IN" sz="2400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AEAD2C-48BA-3E03-1B24-613BBAEA1A39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58441"/>
            <a:ext cx="913078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Impact of Engine Size and Cylinders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4037" y="203799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Larger engines and more cylinders generally correlate with higher fuel consumption and emissions.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2834045"/>
            <a:ext cx="5524381" cy="308610"/>
          </a:xfrm>
          <a:prstGeom prst="roundRect">
            <a:avLst>
              <a:gd name="adj" fmla="val 120000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037" y="2834045"/>
            <a:ext cx="110371" cy="308610"/>
          </a:xfrm>
          <a:prstGeom prst="roundRect">
            <a:avLst>
              <a:gd name="adj" fmla="val 335534"/>
            </a:avLst>
          </a:prstGeom>
          <a:solidFill>
            <a:srgbClr val="16FFBB"/>
          </a:solidFill>
          <a:ln/>
        </p:spPr>
      </p:sp>
      <p:sp>
        <p:nvSpPr>
          <p:cNvPr id="6" name="Text 4"/>
          <p:cNvSpPr/>
          <p:nvPr/>
        </p:nvSpPr>
        <p:spPr>
          <a:xfrm>
            <a:off x="6573560" y="2834045"/>
            <a:ext cx="58733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800" b="1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.0L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4037" y="345114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Compact Engines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4037" y="3942159"/>
            <a:ext cx="62968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Typically found in smaller vehicles, offering better fuel economy.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69505" y="2834045"/>
            <a:ext cx="5550098" cy="308610"/>
          </a:xfrm>
          <a:prstGeom prst="roundRect">
            <a:avLst>
              <a:gd name="adj" fmla="val 120000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69505" y="2834045"/>
            <a:ext cx="327422" cy="308610"/>
          </a:xfrm>
          <a:prstGeom prst="roundRect">
            <a:avLst>
              <a:gd name="adj" fmla="val 120000"/>
            </a:avLst>
          </a:prstGeom>
          <a:solidFill>
            <a:srgbClr val="29DDDA"/>
          </a:solidFill>
          <a:ln/>
        </p:spPr>
      </p:sp>
      <p:sp>
        <p:nvSpPr>
          <p:cNvPr id="11" name="Text 9"/>
          <p:cNvSpPr/>
          <p:nvPr/>
        </p:nvSpPr>
        <p:spPr>
          <a:xfrm>
            <a:off x="13204746" y="2834045"/>
            <a:ext cx="56161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8.0L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69505" y="3451146"/>
            <a:ext cx="3476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High-Performance</a:t>
            </a:r>
            <a:r>
              <a:rPr lang="en-US" sz="2150" b="1" dirty="0">
                <a:solidFill>
                  <a:srgbClr val="E0E4E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Engines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469505" y="3942159"/>
            <a:ext cx="62968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Common in luxury and sports cars, with higher consumption.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64037" y="5472827"/>
            <a:ext cx="5803106" cy="308610"/>
          </a:xfrm>
          <a:prstGeom prst="roundRect">
            <a:avLst>
              <a:gd name="adj" fmla="val 120000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037" y="5472827"/>
            <a:ext cx="232053" cy="308610"/>
          </a:xfrm>
          <a:prstGeom prst="roundRect">
            <a:avLst>
              <a:gd name="adj" fmla="val 159589"/>
            </a:avLst>
          </a:prstGeom>
          <a:solidFill>
            <a:srgbClr val="37A7E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2285" y="5472827"/>
            <a:ext cx="30861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64037" y="60899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4-Cylinder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864037" y="6580942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Efficient and common in many vehicle classes.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469505" y="5472827"/>
            <a:ext cx="5803106" cy="308610"/>
          </a:xfrm>
          <a:prstGeom prst="roundRect">
            <a:avLst>
              <a:gd name="adj" fmla="val 120000"/>
            </a:avLst>
          </a:prstGeom>
          <a:solidFill>
            <a:srgbClr val="0A081B"/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9505" y="5472827"/>
            <a:ext cx="696277" cy="308610"/>
          </a:xfrm>
          <a:prstGeom prst="roundRect">
            <a:avLst>
              <a:gd name="adj" fmla="val 120000"/>
            </a:avLst>
          </a:prstGeom>
          <a:solidFill>
            <a:srgbClr val="091231"/>
          </a:solidFill>
          <a:ln/>
        </p:spPr>
      </p:sp>
      <p:sp>
        <p:nvSpPr>
          <p:cNvPr id="21" name="Text 19"/>
          <p:cNvSpPr/>
          <p:nvPr/>
        </p:nvSpPr>
        <p:spPr>
          <a:xfrm>
            <a:off x="13457753" y="5472827"/>
            <a:ext cx="30861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69505" y="60899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12-Cylinder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69505" y="6580942"/>
            <a:ext cx="62968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Powerful, but with significantly higher fuel use and emissions.</a:t>
            </a:r>
            <a:endParaRPr lang="en-US" sz="1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2D7F4A-2DA1-CA09-A896-E2274F257F65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697" y="489347"/>
            <a:ext cx="7227689" cy="49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Transmission Types and Fuel Efficiency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22697" y="1339453"/>
            <a:ext cx="1338500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Different transmission types can significantly affect a vehicle's fuel efficiency.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2697" y="2024539"/>
            <a:ext cx="6475452" cy="1096089"/>
          </a:xfrm>
          <a:prstGeom prst="roundRect">
            <a:avLst>
              <a:gd name="adj" fmla="val 24352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5816" y="2217658"/>
            <a:ext cx="1977152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Automatic (AS)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5816" y="2642711"/>
            <a:ext cx="608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Convenient, but sometimes less efficient than manual.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2697" y="3298508"/>
            <a:ext cx="6475452" cy="1096089"/>
          </a:xfrm>
          <a:prstGeom prst="roundRect">
            <a:avLst>
              <a:gd name="adj" fmla="val 24352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5816" y="3491627"/>
            <a:ext cx="1977152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Manual (M)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5816" y="3916680"/>
            <a:ext cx="608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Often more fuel-efficient, offering greater control.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697" y="4572476"/>
            <a:ext cx="6475452" cy="1096089"/>
          </a:xfrm>
          <a:prstGeom prst="roundRect">
            <a:avLst>
              <a:gd name="adj" fmla="val 24352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816" y="4765596"/>
            <a:ext cx="2259806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Automated Manual (AM)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5816" y="5190649"/>
            <a:ext cx="608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Combines aspects of both, aiming for efficiency.</a:t>
            </a:r>
            <a:endParaRPr lang="en-US" sz="140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61B862B-C217-BE3B-3876-603CF02E38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0088599"/>
              </p:ext>
            </p:extLst>
          </p:nvPr>
        </p:nvGraphicFramePr>
        <p:xfrm>
          <a:off x="7315200" y="724829"/>
          <a:ext cx="7227689" cy="6165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B9118DBA-6570-4335-B48C-DBD4F0AEFB60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4CFCF113-0602-F77E-9DBC-7080B320509F}"/>
              </a:ext>
            </a:extLst>
          </p:cNvPr>
          <p:cNvSpPr/>
          <p:nvPr/>
        </p:nvSpPr>
        <p:spPr>
          <a:xfrm>
            <a:off x="622696" y="5861685"/>
            <a:ext cx="6475452" cy="1096089"/>
          </a:xfrm>
          <a:prstGeom prst="roundRect">
            <a:avLst>
              <a:gd name="adj" fmla="val 24352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815816" y="6039564"/>
            <a:ext cx="2479596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Continuously Variable (AV)</a:t>
            </a:r>
            <a:endParaRPr lang="en-US" dirty="0"/>
          </a:p>
        </p:txBody>
      </p:sp>
      <p:sp>
        <p:nvSpPr>
          <p:cNvPr id="22" name="Text 13"/>
          <p:cNvSpPr/>
          <p:nvPr/>
        </p:nvSpPr>
        <p:spPr>
          <a:xfrm>
            <a:off x="815816" y="6464618"/>
            <a:ext cx="608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Designed for optimal fuel economy.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614" y="337850"/>
            <a:ext cx="848891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Fuel Types and Their Implications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963311" y="129824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type of fuel a vehicle uses directly impacts its emissions and performance.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14" y="2109719"/>
            <a:ext cx="617220" cy="6172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2929" y="294112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Gazoline(</a:t>
            </a: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2929" y="3465511"/>
            <a:ext cx="3431871" cy="835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 fuel </a:t>
            </a:r>
            <a:r>
              <a:rPr lang="en-US" sz="190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type,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widely available.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5726680" y="-297756"/>
            <a:ext cx="434297" cy="878377"/>
          </a:xfrm>
          <a:prstGeom prst="roundRect">
            <a:avLst>
              <a:gd name="adj" fmla="val 9880"/>
            </a:avLst>
          </a:prstGeom>
          <a:solidFill>
            <a:srgbClr val="4D4D5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519" y="2059867"/>
            <a:ext cx="617220" cy="6172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17519" y="29333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Diesel (D)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3120890" y="3467594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Often more fuel-efficient, but with different emission profiles.</a:t>
            </a:r>
            <a:endParaRPr lang="en-US" sz="1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457" y="2070791"/>
            <a:ext cx="617220" cy="6172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47129" y="295329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>
                <a:solidFill>
                  <a:srgbClr val="E0E4E6"/>
                </a:solidFill>
                <a:ea typeface="Calibri" panose="020F0502020204030204" pitchFamily="34" charset="0"/>
              </a:rPr>
              <a:t>Natural Gas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7047129" y="3467594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>
                <a:solidFill>
                  <a:schemeClr val="bg2"/>
                </a:solidFill>
              </a:rPr>
              <a:t>Burns cleaner with significantly lower NOₓ</a:t>
            </a:r>
            <a:endParaRPr lang="en-US" sz="1900" dirty="0">
              <a:solidFill>
                <a:schemeClr val="bg2"/>
              </a:solidFill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4380C20-5129-C0EC-EAE9-AF628E6EEE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834393"/>
              </p:ext>
            </p:extLst>
          </p:nvPr>
        </p:nvGraphicFramePr>
        <p:xfrm>
          <a:off x="2085277" y="4524033"/>
          <a:ext cx="8151543" cy="3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96ECB6D8-AE5D-9C8A-8C89-311D4A9D3CB8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EB5799-5ED1-D362-C9C7-59928550A4A7}"/>
              </a:ext>
            </a:extLst>
          </p:cNvPr>
          <p:cNvSpPr txBox="1"/>
          <p:nvPr/>
        </p:nvSpPr>
        <p:spPr>
          <a:xfrm>
            <a:off x="11082343" y="3475304"/>
            <a:ext cx="34385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2"/>
                </a:solidFill>
                <a:latin typeface="Barlow" panose="00000500000000000000" pitchFamily="2" charset="0"/>
              </a:rPr>
              <a:t>Usually delivers lower CO₂ emissions and higher octane</a:t>
            </a:r>
            <a:endParaRPr lang="en-IN" sz="2000">
              <a:solidFill>
                <a:schemeClr val="bg2"/>
              </a:solidFill>
              <a:latin typeface="Barlow" panose="00000500000000000000" pitchFamily="2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A414B50-DA49-B211-0260-21B4FF2065FF}"/>
              </a:ext>
            </a:extLst>
          </p:cNvPr>
          <p:cNvSpPr/>
          <p:nvPr/>
        </p:nvSpPr>
        <p:spPr>
          <a:xfrm>
            <a:off x="11204271" y="30579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>
                <a:solidFill>
                  <a:srgbClr val="E0E4E6"/>
                </a:solidFill>
                <a:ea typeface="Calibri" panose="020F0502020204030204" pitchFamily="34" charset="0"/>
              </a:rPr>
              <a:t>Ethanol</a:t>
            </a:r>
            <a:endParaRPr lang="en-US" sz="2400" dirty="0"/>
          </a:p>
        </p:txBody>
      </p:sp>
      <p:pic>
        <p:nvPicPr>
          <p:cNvPr id="1030" name="Picture 6" descr="Ethanol - Free industry icons">
            <a:extLst>
              <a:ext uri="{FF2B5EF4-FFF2-40B4-BE49-F238E27FC236}">
                <a16:creationId xmlns:a16="http://schemas.microsoft.com/office/drawing/2014/main" id="{2AF05DE0-FB8F-D11F-3CE1-86D654B30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477"/>
                    </a14:imgEffect>
                    <a14:imgEffect>
                      <a14:saturation sa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272" y="2220804"/>
            <a:ext cx="617220" cy="617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782" y="428863"/>
            <a:ext cx="7209255" cy="43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Vehicle Class and Efficiency Trends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5783" y="1173837"/>
            <a:ext cx="13538835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Different vehicle classes exhibit varying fuel efficiency and emission characteristics.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5783" y="9355812"/>
            <a:ext cx="13538835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Smaller, more compact vehicles generally have lower CO2 emissions compared to larger SUVs and high-performance two-seaters.</a:t>
            </a:r>
            <a:endParaRPr lang="en-US" sz="12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12030E3-2ACB-139D-A595-605976F0D7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977579"/>
              </p:ext>
            </p:extLst>
          </p:nvPr>
        </p:nvGraphicFramePr>
        <p:xfrm>
          <a:off x="167268" y="1555167"/>
          <a:ext cx="14463132" cy="5820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2603597-3DC6-F7B9-3F8A-63F2DA09BDAB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DBF9B-D37C-53BC-DEBA-1F5CE0CB9F01}"/>
              </a:ext>
            </a:extLst>
          </p:cNvPr>
          <p:cNvSpPr txBox="1"/>
          <p:nvPr/>
        </p:nvSpPr>
        <p:spPr>
          <a:xfrm>
            <a:off x="1301261" y="7376103"/>
            <a:ext cx="12590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Smaller, more compact vehicles generally have lower CO2 emissions compared to larger SUVs and high-performance two-seaters.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48909"/>
            <a:ext cx="789170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Key Takeaways and Next Steps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3669030"/>
            <a:ext cx="4177308" cy="246817"/>
          </a:xfrm>
          <a:prstGeom prst="roundRect">
            <a:avLst>
              <a:gd name="adj" fmla="val 150043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0853" y="41626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Efficiency Factors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853" y="4653677"/>
            <a:ext cx="3683675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Engine size, cylinders, transmission, and fuel type all influence fuel efficiency and emissions.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26487" y="3298746"/>
            <a:ext cx="4177308" cy="246817"/>
          </a:xfrm>
          <a:prstGeom prst="roundRect">
            <a:avLst>
              <a:gd name="adj" fmla="val 150043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3303" y="3792379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Environmental Impact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73303" y="4283393"/>
            <a:ext cx="368367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Smaller vehicles and hybrids generally have lower CO2 emissions.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588937" y="2928461"/>
            <a:ext cx="4177308" cy="246817"/>
          </a:xfrm>
          <a:prstGeom prst="roundRect">
            <a:avLst>
              <a:gd name="adj" fmla="val 150043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35753" y="342209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Informed</a:t>
            </a:r>
            <a:r>
              <a:rPr lang="en-US" sz="2150" b="1" dirty="0">
                <a:solidFill>
                  <a:srgbClr val="E0E4E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Choices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835753" y="3913108"/>
            <a:ext cx="3683675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Consider these factors when choosing a vehicle for better fuel economy and reduced environmental footprint.</a:t>
            </a:r>
            <a:endParaRPr lang="en-US" sz="1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881AD-5310-9A3A-EA56-8B14D2101A3C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7148AE8-6FD8-838B-0B80-D562E93A7E9F}"/>
              </a:ext>
            </a:extLst>
          </p:cNvPr>
          <p:cNvSpPr/>
          <p:nvPr/>
        </p:nvSpPr>
        <p:spPr>
          <a:xfrm>
            <a:off x="11997787" y="2245487"/>
            <a:ext cx="1134319" cy="11343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/>
              <a:t>4</a:t>
            </a:r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4688CD7-133C-93C9-C52F-042771BACFF6}"/>
              </a:ext>
            </a:extLst>
          </p:cNvPr>
          <p:cNvSpPr/>
          <p:nvPr/>
        </p:nvSpPr>
        <p:spPr>
          <a:xfrm>
            <a:off x="8445278" y="1678328"/>
            <a:ext cx="1134319" cy="11343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/>
              <a:t>3</a:t>
            </a:r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01A58BA-72B9-F903-5640-894C181DFAA9}"/>
              </a:ext>
            </a:extLst>
          </p:cNvPr>
          <p:cNvSpPr/>
          <p:nvPr/>
        </p:nvSpPr>
        <p:spPr>
          <a:xfrm>
            <a:off x="1549713" y="2064489"/>
            <a:ext cx="1134319" cy="11343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/>
              <a:t>1</a:t>
            </a:r>
            <a:endParaRPr lang="en-IN" b="1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8C599069-6172-3AAD-D167-7C08B59F552D}"/>
              </a:ext>
            </a:extLst>
          </p:cNvPr>
          <p:cNvSpPr/>
          <p:nvPr/>
        </p:nvSpPr>
        <p:spPr>
          <a:xfrm>
            <a:off x="5102222" y="2573439"/>
            <a:ext cx="1134319" cy="11343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/>
              <a:t>2</a:t>
            </a:r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0E980C-50DC-9EB2-E3B5-FA0A4BB4FBC7}"/>
              </a:ext>
            </a:extLst>
          </p:cNvPr>
          <p:cNvSpPr/>
          <p:nvPr/>
        </p:nvSpPr>
        <p:spPr>
          <a:xfrm>
            <a:off x="539175" y="3615498"/>
            <a:ext cx="3155394" cy="3257936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0800" cap="sq">
            <a:gradFill flip="none" rotWithShape="1">
              <a:gsLst>
                <a:gs pos="0">
                  <a:srgbClr val="127C7C"/>
                </a:gs>
                <a:gs pos="33000">
                  <a:srgbClr val="127C7C"/>
                </a:gs>
                <a:gs pos="100000">
                  <a:srgbClr val="127C7C"/>
                </a:gs>
              </a:gsLst>
              <a:lin ang="16200000" scaled="1"/>
              <a:tileRect/>
            </a:gra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/>
              <a:t>Government policies promoting clean vehicles</a:t>
            </a:r>
            <a:endParaRPr lang="en-US" b="1"/>
          </a:p>
          <a:p>
            <a:r>
              <a:rPr lang="en-US" sz="2000"/>
              <a:t>Various governments have implemented policies aimed at improving fuel efficiency and reducing emissions, impacting vehicle technology.</a:t>
            </a:r>
            <a:endParaRPr lang="en-US" sz="2000" b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3B5FA6-1CB3-D0E0-2D29-D3AB916F4CB2}"/>
              </a:ext>
            </a:extLst>
          </p:cNvPr>
          <p:cNvSpPr/>
          <p:nvPr/>
        </p:nvSpPr>
        <p:spPr>
          <a:xfrm>
            <a:off x="4034403" y="4376364"/>
            <a:ext cx="3280797" cy="325793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53975" cap="sq">
            <a:gradFill>
              <a:gsLst>
                <a:gs pos="0">
                  <a:srgbClr val="127C7C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/>
              <a:t>Impact of emissions standards on manufacturers</a:t>
            </a:r>
            <a:endParaRPr lang="en-US" sz="2400"/>
          </a:p>
          <a:p>
            <a:r>
              <a:rPr lang="en-US" sz="2000"/>
              <a:t>Emissions standards force vehicle manufacturers to innovate and improve their fuel efficiency, affecting the market landscape.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A6DF21-F3CE-8A2D-1EA8-5039A1EDAB3A}"/>
              </a:ext>
            </a:extLst>
          </p:cNvPr>
          <p:cNvSpPr/>
          <p:nvPr/>
        </p:nvSpPr>
        <p:spPr>
          <a:xfrm>
            <a:off x="7650101" y="3293336"/>
            <a:ext cx="3155394" cy="3257936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3975" cap="sq">
            <a:gradFill>
              <a:gsLst>
                <a:gs pos="0">
                  <a:srgbClr val="127C7C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/>
              <a:t>Public awareness and environmental advocacy</a:t>
            </a:r>
            <a:endParaRPr lang="en-US" sz="2000" b="1"/>
          </a:p>
          <a:p>
            <a:r>
              <a:rPr lang="en-US" sz="2000"/>
              <a:t>People and organizations play a significant role in advocating for stricter emissions regulations, influencing public policy</a:t>
            </a:r>
            <a:r>
              <a:rPr lang="en-US"/>
              <a:t>.</a:t>
            </a:r>
          </a:p>
          <a:p>
            <a:r>
              <a:rPr lang="en-US"/>
              <a:t>.</a:t>
            </a:r>
            <a:endParaRPr lang="en-US" b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00BEC3-6071-F8DE-4123-E30AC582A178}"/>
              </a:ext>
            </a:extLst>
          </p:cNvPr>
          <p:cNvSpPr/>
          <p:nvPr/>
        </p:nvSpPr>
        <p:spPr>
          <a:xfrm>
            <a:off x="11140397" y="3707758"/>
            <a:ext cx="3051717" cy="325793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50800" cap="sq">
            <a:gradFill>
              <a:gsLst>
                <a:gs pos="0">
                  <a:srgbClr val="127C7C"/>
                </a:gs>
                <a:gs pos="27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/>
              <a:t>Global initiatives for sustainable transport</a:t>
            </a:r>
            <a:endParaRPr lang="en-US" b="1"/>
          </a:p>
          <a:p>
            <a:r>
              <a:rPr lang="en-US" sz="2000"/>
              <a:t>Various global initiatives aim to promote sustainable transport solutions, highlighting their importance in reducing vehicle emissions.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64F16E-4C51-D52B-8415-8A8A4556610E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2684032" y="2631649"/>
            <a:ext cx="2418190" cy="50895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9CAD8E-6A71-6ED9-7FFC-03B5496254B3}"/>
              </a:ext>
            </a:extLst>
          </p:cNvPr>
          <p:cNvCxnSpPr>
            <a:cxnSpLocks/>
            <a:stCxn id="9" idx="6"/>
            <a:endCxn id="7" idx="2"/>
          </p:cNvCxnSpPr>
          <p:nvPr/>
        </p:nvCxnSpPr>
        <p:spPr>
          <a:xfrm flipV="1">
            <a:off x="6236541" y="2245488"/>
            <a:ext cx="2208737" cy="8951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CDA392-06EF-FF83-6552-23AB0E52F6DC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9579597" y="2245488"/>
            <a:ext cx="2418190" cy="56715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F7ACDE-4B9B-A8BF-C087-2E8013F28552}"/>
              </a:ext>
            </a:extLst>
          </p:cNvPr>
          <p:cNvSpPr txBox="1"/>
          <p:nvPr/>
        </p:nvSpPr>
        <p:spPr>
          <a:xfrm>
            <a:off x="141151" y="442743"/>
            <a:ext cx="12525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Regulatory frameworks for reducing vehicle emissions</a:t>
            </a:r>
            <a:endParaRPr lang="en-US" sz="36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6EB3BC-B9C5-6095-4420-22153D7ACEA6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141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80AA34-EFE8-4035-71B0-5DF05C8C8645}"/>
              </a:ext>
            </a:extLst>
          </p:cNvPr>
          <p:cNvSpPr txBox="1"/>
          <p:nvPr/>
        </p:nvSpPr>
        <p:spPr>
          <a:xfrm>
            <a:off x="4215162" y="3015734"/>
            <a:ext cx="56202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8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Thank You</a:t>
            </a:r>
            <a:endParaRPr lang="en-IN" sz="800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0E8F5-84FD-2773-2596-7F7F76A5E9B8}"/>
              </a:ext>
            </a:extLst>
          </p:cNvPr>
          <p:cNvSpPr/>
          <p:nvPr/>
        </p:nvSpPr>
        <p:spPr>
          <a:xfrm>
            <a:off x="12801600" y="7638585"/>
            <a:ext cx="1828800" cy="5910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656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3223</TotalTime>
  <Words>1065</Words>
  <Application>Microsoft Office PowerPoint</Application>
  <PresentationFormat>Custom</PresentationFormat>
  <Paragraphs>175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SimSun</vt:lpstr>
      <vt:lpstr>Arial</vt:lpstr>
      <vt:lpstr>Barlow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dhanesh4815@outlook.com</cp:lastModifiedBy>
  <cp:revision>16</cp:revision>
  <dcterms:created xsi:type="dcterms:W3CDTF">2025-07-17T04:41:37Z</dcterms:created>
  <dcterms:modified xsi:type="dcterms:W3CDTF">2025-07-24T19:30:04Z</dcterms:modified>
</cp:coreProperties>
</file>